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4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2540"/>
                </a:solidFill>
                <a:latin typeface="Arial"/>
              </a:rPr>
              <a:t>ROC Curve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ROC</c:v>
                </c:pt>
              </c:strCache>
            </c:strRef>
          </c:tx>
          <c:spPr>
            <a:solidFill>
              <a:srgbClr val="1B6CA8"/>
            </a:solidFill>
            <a:ln w="38100" cap="flat">
              <a:solidFill>
                <a:srgbClr val="1B6C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6CA8"/>
              </a:solidFill>
              <a:ln w="9525" cap="flat">
                <a:solidFill>
                  <a:srgbClr val="1B6C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0.00</c:v>
                  </c:pt>
                  <c:pt idx="1">
                    <c:v>0.13</c:v>
                  </c:pt>
                  <c:pt idx="2">
                    <c:v>0.25</c:v>
                  </c:pt>
                  <c:pt idx="3">
                    <c:v>0.38</c:v>
                  </c:pt>
                  <c:pt idx="4">
                    <c:v>0.50</c:v>
                  </c:pt>
                  <c:pt idx="5">
                    <c:v>0.63</c:v>
                  </c:pt>
                  <c:pt idx="6">
                    <c:v>0.75</c:v>
                  </c:pt>
                  <c:pt idx="7">
                    <c:v>0.88</c:v>
                  </c:pt>
                  <c:pt idx="8">
                    <c:v>1.00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0.72</c:v>
                </c:pt>
                <c:pt idx="2">
                  <c:v>0.85</c:v>
                </c:pt>
                <c:pt idx="3">
                  <c:v>0.91</c:v>
                </c:pt>
                <c:pt idx="4">
                  <c:v>0.945</c:v>
                </c:pt>
                <c:pt idx="5">
                  <c:v>0.965</c:v>
                </c:pt>
                <c:pt idx="6">
                  <c:v>0.98</c:v>
                </c:pt>
                <c:pt idx="7">
                  <c:v>0.992</c:v>
                </c:pt>
                <c:pt idx="8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baseline</c:v>
                </c:pt>
              </c:strCache>
            </c:strRef>
          </c:tx>
          <c:spPr>
            <a:solidFill>
              <a:srgbClr val="C3D4E0"/>
            </a:solidFill>
            <a:ln w="38100" cap="flat">
              <a:solidFill>
                <a:srgbClr val="C3D4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3D4E0"/>
              </a:solidFill>
              <a:ln w="9525" cap="flat">
                <a:solidFill>
                  <a:srgbClr val="C3D4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0.00</c:v>
                  </c:pt>
                  <c:pt idx="1">
                    <c:v>0.13</c:v>
                  </c:pt>
                  <c:pt idx="2">
                    <c:v>0.25</c:v>
                  </c:pt>
                  <c:pt idx="3">
                    <c:v>0.38</c:v>
                  </c:pt>
                  <c:pt idx="4">
                    <c:v>0.50</c:v>
                  </c:pt>
                  <c:pt idx="5">
                    <c:v>0.63</c:v>
                  </c:pt>
                  <c:pt idx="6">
                    <c:v>0.75</c:v>
                  </c:pt>
                  <c:pt idx="7">
                    <c:v>0.88</c:v>
                  </c:pt>
                  <c:pt idx="8">
                    <c:v>1.00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0.125</c:v>
                </c:pt>
                <c:pt idx="2">
                  <c:v>0.25</c:v>
                </c:pt>
                <c:pt idx="3">
                  <c:v>0.375</c:v>
                </c:pt>
                <c:pt idx="4">
                  <c:v>0.5</c:v>
                </c:pt>
                <c:pt idx="5">
                  <c:v>0.625</c:v>
                </c:pt>
                <c:pt idx="6">
                  <c:v>0.75</c:v>
                </c:pt>
                <c:pt idx="7">
                  <c:v>0.875</c:v>
                </c:pt>
                <c:pt idx="8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7186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B7186"/>
                    </a:solidFill>
                    <a:latin typeface="Arial"/>
                  </a:rPr>
                  <a:t>False positive rate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1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6EE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7186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B7186"/>
                    </a:solidFill>
                    <a:latin typeface="Arial"/>
                  </a:rPr>
                  <a:t>True positive rate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1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B718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4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2540"/>
                </a:solidFill>
                <a:latin typeface="Arial"/>
              </a:rPr>
              <a:t>Feature Importance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B718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Hour of day</c:v>
                  </c:pt>
                  <c:pt idx="1">
                    <c:v>New device</c:v>
                  </c:pt>
                  <c:pt idx="2">
                    <c:v>Merchant category</c:v>
                  </c:pt>
                  <c:pt idx="3">
                    <c:v>Account age</c:v>
                  </c:pt>
                  <c:pt idx="4">
                    <c:v>Txn amount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0.09</c:v>
                </c:pt>
                <c:pt idx="1">
                  <c:v>0.14</c:v>
                </c:pt>
                <c:pt idx="2">
                  <c:v>0.17</c:v>
                </c:pt>
                <c:pt idx="3">
                  <c:v>0.23</c:v>
                </c:pt>
                <c:pt idx="4">
                  <c:v>0.31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5B718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1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</c:scaling>
        <c:delete val="0"/>
        <c:axPos val="b"/>
        <c:majorGridlines>
          <c:spPr>
            <a:ln w="12700" cap="flat">
              <a:solidFill>
                <a:srgbClr val="E6EE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1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team and the problem space: automated fraud detection for high-volume transaction streams.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Fraud is rare, fast-moving, and visually similar to legitimate activity. Human review cannot keep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stages, one pipeline: ingest, classify, detect anomalies, score, tier by risk, and 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is linear and modular — each stage can be swapped or retrained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simple stack so judges can reproduce the whole pipeline in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Accuracy alone is misleading when fraud is 2.5% of the data. Recall is the metric that matters, so the threshold was lowered to 0.3.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score nobody understands does not get acted on. The explanation layer converts model output into an instruction for a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judges through one clean transaction and one suspicious transaction in the live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decision follows from the same principle: in fraud detection the cost of a miss is asymmetric.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asymmetry argument and invite questions on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937760" cy="4937760"/>
          </a:xfrm>
          <a:prstGeom prst="ellipse">
            <a:avLst/>
          </a:prstGeom>
          <a:solidFill>
            <a:srgbClr val="1B6CA8">
              <a:alpha val="28000"/>
            </a:srgbClr>
          </a:solidFill>
          <a:ln w="12700">
            <a:solidFill>
              <a:srgbClr val="1B6CA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00A3E0">
              <a:alpha val="18000"/>
            </a:srgbClr>
          </a:solidFill>
          <a:ln w="12700">
            <a:solidFill>
              <a:srgbClr val="00A3E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0432"/>
            <a:ext cx="1051560" cy="1051560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7" y="1464869"/>
            <a:ext cx="462686" cy="4626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6888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 &amp;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Risk Agent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224528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HackForge FinTech Codeathon Submission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" y="4846320"/>
            <a:ext cx="822960" cy="320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0749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Kukatlapalli Lakshmi Narasimha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Team Leader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Kanishka Chitturi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review does not scale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6492240" cy="2057400"/>
          </a:xfrm>
          <a:prstGeom prst="roundRect">
            <a:avLst>
              <a:gd name="adj" fmla="val 5333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75104"/>
            <a:ext cx="566928" cy="5669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40" y="2133844"/>
            <a:ext cx="249448" cy="249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64208" y="195681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hides in plain sight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664208" y="2340864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6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systems process thousands of transactions daily, making manual fraud detection nearly impossible. Fraudulent transactions often closely resemble legitimate ones — same amounts, same merchants, same hours.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" y="4023360"/>
            <a:ext cx="6492240" cy="1874520"/>
          </a:xfrm>
          <a:prstGeom prst="roundRect">
            <a:avLst>
              <a:gd name="adj" fmla="val 5854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4352544"/>
            <a:ext cx="566928" cy="566928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40" y="4511284"/>
            <a:ext cx="249448" cy="2494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64208" y="43159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664208" y="4663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AI-powered system that analyzes transaction patterns and flags potentially fraudulent activity — automatically, at scale, with a reason attached.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452360" y="1691640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99248" y="18928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~2.5%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7699248" y="242316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are fraudulent — a needle in a haystack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452360" y="3163824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699248" y="336499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1000s</a:t>
            </a:r>
            <a:endParaRPr lang="en-US" sz="3000" dirty="0"/>
          </a:p>
        </p:txBody>
      </p:sp>
      <p:sp>
        <p:nvSpPr>
          <p:cNvPr id="19" name="Text 15"/>
          <p:cNvSpPr txBox="1"/>
          <p:nvPr/>
        </p:nvSpPr>
        <p:spPr>
          <a:xfrm>
            <a:off x="7699248" y="389534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per day, far beyond human review capacity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452360" y="4636008"/>
            <a:ext cx="4160520" cy="1298448"/>
          </a:xfrm>
          <a:prstGeom prst="roundRect">
            <a:avLst>
              <a:gd name="adj" fmla="val 7042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699248" y="483717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Seconds</a:t>
            </a:r>
            <a:endParaRPr lang="en-US" sz="3000" dirty="0"/>
          </a:p>
        </p:txBody>
      </p:sp>
      <p:sp>
        <p:nvSpPr>
          <p:cNvPr id="22" name="Text 18"/>
          <p:cNvSpPr txBox="1"/>
          <p:nvPr/>
        </p:nvSpPr>
        <p:spPr>
          <a:xfrm>
            <a:off x="7699248" y="53675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all the time a reviewer has before money moves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 learning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9968"/>
            <a:ext cx="566928" cy="5669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420" y="2188708"/>
            <a:ext cx="249448" cy="249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7614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raw data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0723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Cleans, encodes and engineers features from raw transaction records.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98848" y="173736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73168" y="2029968"/>
            <a:ext cx="566928" cy="5669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908" y="2188708"/>
            <a:ext cx="249448" cy="2494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73168" y="27614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fraud vs. legit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4773168" y="30723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classifier labels every incoming transaction.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403336" y="173736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77656" y="2029968"/>
            <a:ext cx="566928" cy="5669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396" y="2188708"/>
            <a:ext cx="249448" cy="2494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77656" y="27614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anomalies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8677656" y="30723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surfaces statistical outliers the classifier may miss.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4360" y="397764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270248"/>
            <a:ext cx="566928" cy="566928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420" y="4428988"/>
            <a:ext cx="249448" cy="2494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8680" y="50017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probability</a:t>
            </a:r>
            <a:endParaRPr lang="en-US" sz="155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3126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6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calibrated fraud probability rather than a hard yes/no.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98848" y="397764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73168" y="4270248"/>
            <a:ext cx="566928" cy="566928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1908" y="4428988"/>
            <a:ext cx="249448" cy="2494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773168" y="50017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risk level</a:t>
            </a:r>
            <a:endParaRPr lang="en-US" sz="1550" dirty="0"/>
          </a:p>
        </p:txBody>
      </p:sp>
      <p:sp>
        <p:nvSpPr>
          <p:cNvPr id="28" name="Text 21"/>
          <p:cNvSpPr txBox="1"/>
          <p:nvPr/>
        </p:nvSpPr>
        <p:spPr>
          <a:xfrm>
            <a:off x="4773168" y="53126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6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score to Low / Medium / High for triage queues.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403336" y="397764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677656" y="4270248"/>
            <a:ext cx="566928" cy="566928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6396" y="4428988"/>
            <a:ext cx="249448" cy="24944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677656" y="50017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flag</a:t>
            </a:r>
            <a:endParaRPr lang="en-US" sz="1550" dirty="0"/>
          </a:p>
        </p:txBody>
      </p:sp>
      <p:sp>
        <p:nvSpPr>
          <p:cNvPr id="33" name="Text 25"/>
          <p:cNvSpPr txBox="1"/>
          <p:nvPr/>
        </p:nvSpPr>
        <p:spPr>
          <a:xfrm>
            <a:off x="8677656" y="531266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6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plain-English reason for every flagged transaction.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Pipeline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transaction to explained decision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487168" cy="1572768"/>
          </a:xfrm>
          <a:prstGeom prst="roundRect">
            <a:avLst>
              <a:gd name="adj" fmla="val 5814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2768" y="2057400"/>
            <a:ext cx="530352" cy="53035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1267" y="2205899"/>
            <a:ext cx="233355" cy="23335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04088" y="269748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Input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04088" y="299008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31820" y="2542032"/>
            <a:ext cx="265176" cy="237744"/>
          </a:xfrm>
          <a:prstGeom prst="chevron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47288" y="1874520"/>
            <a:ext cx="2487168" cy="1572768"/>
          </a:xfrm>
          <a:prstGeom prst="roundRect">
            <a:avLst>
              <a:gd name="adj" fmla="val 5814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25696" y="2057400"/>
            <a:ext cx="530352" cy="53035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195" y="2205899"/>
            <a:ext cx="233355" cy="23335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57016" y="269748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557016" y="299008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encode, engineer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84748" y="2542032"/>
            <a:ext cx="265176" cy="237744"/>
          </a:xfrm>
          <a:prstGeom prst="chevron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00216" y="1874520"/>
            <a:ext cx="2487168" cy="1572768"/>
          </a:xfrm>
          <a:prstGeom prst="roundRect">
            <a:avLst>
              <a:gd name="adj" fmla="val 5814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78624" y="2057400"/>
            <a:ext cx="530352" cy="53035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123" y="2205899"/>
            <a:ext cx="233355" cy="23335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9944" y="269748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409944" y="299008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837676" y="2542032"/>
            <a:ext cx="265176" cy="237744"/>
          </a:xfrm>
          <a:prstGeom prst="chevron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53144" y="1874520"/>
            <a:ext cx="2487168" cy="1572768"/>
          </a:xfrm>
          <a:prstGeom prst="roundRect">
            <a:avLst>
              <a:gd name="adj" fmla="val 5814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0131552" y="2057400"/>
            <a:ext cx="530352" cy="53035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051" y="2205899"/>
            <a:ext cx="233355" cy="23335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62872" y="269748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Classification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9262872" y="299008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1847088" y="3977640"/>
            <a:ext cx="2487168" cy="1572768"/>
          </a:xfrm>
          <a:prstGeom prst="roundRect">
            <a:avLst>
              <a:gd name="adj" fmla="val 5814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2825496" y="4160520"/>
            <a:ext cx="530352" cy="53035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3995" y="4309019"/>
            <a:ext cx="233355" cy="23335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956816" y="48006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1956816" y="509320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→ Low/Med/High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4384548" y="4645152"/>
            <a:ext cx="265176" cy="237744"/>
          </a:xfrm>
          <a:prstGeom prst="chevron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700016" y="3977640"/>
            <a:ext cx="2487168" cy="1572768"/>
          </a:xfrm>
          <a:prstGeom prst="roundRect">
            <a:avLst>
              <a:gd name="adj" fmla="val 5814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5678424" y="4160520"/>
            <a:ext cx="530352" cy="53035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6923" y="4309019"/>
            <a:ext cx="233355" cy="23335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4809744" y="48006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Layer</a:t>
            </a:r>
            <a:endParaRPr lang="en-US" sz="1350" dirty="0"/>
          </a:p>
        </p:txBody>
      </p:sp>
      <p:sp>
        <p:nvSpPr>
          <p:cNvPr id="37" name="Text 29"/>
          <p:cNvSpPr txBox="1"/>
          <p:nvPr/>
        </p:nvSpPr>
        <p:spPr>
          <a:xfrm>
            <a:off x="4809744" y="509320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reasons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7237476" y="4645152"/>
            <a:ext cx="265176" cy="237744"/>
          </a:xfrm>
          <a:prstGeom prst="chevron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552944" y="3977640"/>
            <a:ext cx="2487168" cy="1572768"/>
          </a:xfrm>
          <a:prstGeom prst="roundRect">
            <a:avLst>
              <a:gd name="adj" fmla="val 5814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8531352" y="4160520"/>
            <a:ext cx="530352" cy="530352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9851" y="4309019"/>
            <a:ext cx="233355" cy="23335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662672" y="48006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50" dirty="0"/>
          </a:p>
        </p:txBody>
      </p:sp>
      <p:sp>
        <p:nvSpPr>
          <p:cNvPr id="43" name="Text 34"/>
          <p:cNvSpPr txBox="1"/>
          <p:nvPr/>
        </p:nvSpPr>
        <p:spPr>
          <a:xfrm>
            <a:off x="7662672" y="509320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6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txns + reasons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 rot="5400000">
            <a:off x="1709928" y="3675888"/>
            <a:ext cx="274320" cy="256032"/>
          </a:xfrm>
          <a:prstGeom prst="chevron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847088" y="3602736"/>
            <a:ext cx="8577072" cy="25603"/>
          </a:xfrm>
          <a:prstGeom prst="rect">
            <a:avLst/>
          </a:prstGeom>
          <a:solidFill>
            <a:srgbClr val="B9D2E6"/>
          </a:solidFill>
          <a:ln w="12700">
            <a:solidFill>
              <a:srgbClr val="B9D2E6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10405872" y="3447288"/>
            <a:ext cx="25603" cy="173736"/>
          </a:xfrm>
          <a:prstGeom prst="rect">
            <a:avLst/>
          </a:prstGeom>
          <a:solidFill>
            <a:srgbClr val="B9D2E6"/>
          </a:solidFill>
          <a:ln w="12700">
            <a:solidFill>
              <a:srgbClr val="B9D2E6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1847088" y="3602736"/>
            <a:ext cx="25603" cy="146304"/>
          </a:xfrm>
          <a:prstGeom prst="rect">
            <a:avLst/>
          </a:prstGeom>
          <a:solidFill>
            <a:srgbClr val="B9D2E6"/>
          </a:solidFill>
          <a:ln w="12700">
            <a:solidFill>
              <a:srgbClr val="B9D2E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reproducible, fully open source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075688"/>
            <a:ext cx="603504" cy="603504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949" y="2244669"/>
            <a:ext cx="265542" cy="2655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86968" y="2807208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&amp; Data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86968" y="320040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data wrangling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numeric operations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547872" y="178308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40480" y="2075688"/>
            <a:ext cx="603504" cy="60350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461" y="2244669"/>
            <a:ext cx="265542" cy="2655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840480" y="2807208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840480" y="320040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6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6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6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501384" y="178308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793992" y="2075688"/>
            <a:ext cx="603504" cy="603504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973" y="2244669"/>
            <a:ext cx="265542" cy="2655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93992" y="2807208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793992" y="320040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ROC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plots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454896" y="1783080"/>
            <a:ext cx="2697480" cy="3246120"/>
          </a:xfrm>
          <a:prstGeom prst="roundRect">
            <a:avLst>
              <a:gd name="adj" fmla="val 3390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47504" y="2075688"/>
            <a:ext cx="603504" cy="60350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6485" y="2244669"/>
            <a:ext cx="265542" cy="2655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747504" y="2807208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9747504" y="3200400"/>
            <a:ext cx="21854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6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live demo app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6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— model persistence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6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reusable bundle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594360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runs locally on CPU — no GPU, no paid services, no external API dependency.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to catch fraud, not to flatter the accuracy score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697480" cy="1024128"/>
          </a:xfrm>
          <a:prstGeom prst="roundRect">
            <a:avLst>
              <a:gd name="adj" fmla="val 8929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78308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97.45%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228600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6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47872" y="1691640"/>
            <a:ext cx="2697480" cy="1024128"/>
          </a:xfrm>
          <a:prstGeom prst="roundRect">
            <a:avLst>
              <a:gd name="adj" fmla="val 8929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67328" y="178308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~66%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767328" y="228600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recall — catches 2 of every 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01384" y="1691640"/>
            <a:ext cx="2697480" cy="1024128"/>
          </a:xfrm>
          <a:prstGeom prst="roundRect">
            <a:avLst>
              <a:gd name="adj" fmla="val 8929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178308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28600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in training set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54896" y="1691640"/>
            <a:ext cx="2697480" cy="1024128"/>
          </a:xfrm>
          <a:prstGeom prst="roundRect">
            <a:avLst>
              <a:gd name="adj" fmla="val 8929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74352" y="1783080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674352" y="2286000"/>
            <a:ext cx="2258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 (vs. default 0.50)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7249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— 2,000 held-out transactions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60120" y="3346704"/>
            <a:ext cx="1627632" cy="1024128"/>
          </a:xfrm>
          <a:prstGeom prst="roundRect">
            <a:avLst>
              <a:gd name="adj" fmla="val 7143"/>
            </a:avLst>
          </a:prstGeom>
          <a:solidFill>
            <a:srgbClr val="F2F7FB"/>
          </a:solidFill>
          <a:ln w="12700">
            <a:solidFill>
              <a:srgbClr val="CFDF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88136" y="3493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1,916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" y="396849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34056" y="3346704"/>
            <a:ext cx="1627632" cy="1024128"/>
          </a:xfrm>
          <a:prstGeom prst="roundRect">
            <a:avLst>
              <a:gd name="adj" fmla="val 7143"/>
            </a:avLst>
          </a:prstGeom>
          <a:solidFill>
            <a:srgbClr val="DCE8F2"/>
          </a:solidFill>
          <a:ln w="12700">
            <a:solidFill>
              <a:srgbClr val="CFDF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862072" y="34930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2807208" y="396849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0120" y="4517136"/>
            <a:ext cx="1627632" cy="1024128"/>
          </a:xfrm>
          <a:prstGeom prst="roundRect">
            <a:avLst>
              <a:gd name="adj" fmla="val 7143"/>
            </a:avLst>
          </a:prstGeom>
          <a:solidFill>
            <a:srgbClr val="DCE8F2"/>
          </a:solidFill>
          <a:ln w="12700">
            <a:solidFill>
              <a:srgbClr val="CFDF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88136" y="4663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6C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033272" y="51389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34056" y="4517136"/>
            <a:ext cx="1627632" cy="1024128"/>
          </a:xfrm>
          <a:prstGeom prst="roundRect">
            <a:avLst>
              <a:gd name="adj" fmla="val 7143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62072" y="4663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2807208" y="51389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6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60120" y="3072384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64592" y="3913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4617720" y="2926080"/>
          <a:ext cx="37033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2" name="Chart 1" descr=""/>
          <p:cNvGraphicFramePr/>
          <p:nvPr/>
        </p:nvGraphicFramePr>
        <p:xfrm>
          <a:off x="8412480" y="2926080"/>
          <a:ext cx="324612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 arrives with its reasoning attached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6720840" cy="3794760"/>
          </a:xfrm>
          <a:prstGeom prst="roundRect">
            <a:avLst>
              <a:gd name="adj" fmla="val 2892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139696"/>
            <a:ext cx="548640" cy="548640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2293315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64208" y="21762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TXN #48213  ·  HIGH RISK  ·  p(fraud) = 0.87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32688" y="29260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i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"Flagged due to: unusually high amount, transaction from a new device, occurred at an unusual hour."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932688" y="44805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automatically from the feature contributions behind the score.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80960" y="1783080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36992" y="2093976"/>
            <a:ext cx="530352" cy="53035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491" y="2242475"/>
            <a:ext cx="233355" cy="23335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613648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trust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613648" y="23500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see the evidence, not a black-box verdict.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680960" y="3108960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936992" y="3419856"/>
            <a:ext cx="530352" cy="53035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5491" y="3568355"/>
            <a:ext cx="233355" cy="23335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13648" y="3383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Speeds up triage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8613648" y="3675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points straight at what to verify first.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680960" y="4434840"/>
            <a:ext cx="3913632" cy="1170432"/>
          </a:xfrm>
          <a:prstGeom prst="roundRect">
            <a:avLst>
              <a:gd name="adj" fmla="val 7813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936992" y="4745736"/>
            <a:ext cx="530352" cy="53035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5491" y="4894235"/>
            <a:ext cx="233355" cy="23335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613648" y="4709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audit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613648" y="50017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decision leaves a written, reviewable trail.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 built with Streamlit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6172200" cy="1143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66544"/>
            <a:ext cx="566928" cy="5669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40" y="2225284"/>
            <a:ext cx="249448" cy="2494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64208" y="20208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Enter transaction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64208" y="23500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merchant, device, timestamp and account details.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" y="3081528"/>
            <a:ext cx="6172200" cy="1143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364992"/>
            <a:ext cx="566928" cy="5669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40" y="3523732"/>
            <a:ext cx="249448" cy="2494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64208" y="331927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Model scores it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664208" y="36484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and anomaly detector run together in one call.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4379976"/>
            <a:ext cx="6172200" cy="1143000"/>
          </a:xfrm>
          <a:prstGeom prst="roundRect">
            <a:avLst>
              <a:gd name="adj" fmla="val 8000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663440"/>
            <a:ext cx="566928" cy="56692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40" y="4822180"/>
            <a:ext cx="249448" cy="2494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64208" y="46177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See the verdict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64208" y="49469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probability, risk level and a written explanation.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178040" y="1783080"/>
            <a:ext cx="4416552" cy="3794760"/>
          </a:xfrm>
          <a:prstGeom prst="roundRect">
            <a:avLst>
              <a:gd name="adj" fmla="val 2892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7498080" y="20116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Agent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7498080" y="24688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9098280" y="2468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84,200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7498080" y="28529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9098280" y="2852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electronics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7498080" y="323697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9098280" y="32369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unrecognised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7498080" y="362102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9098280" y="36210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03:41 AM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7498080" y="4160520"/>
            <a:ext cx="3776472" cy="1024128"/>
          </a:xfrm>
          <a:prstGeom prst="roundRect">
            <a:avLst>
              <a:gd name="adj" fmla="val 8036"/>
            </a:avLst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662672" y="42793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2100" dirty="0"/>
          </a:p>
        </p:txBody>
      </p:sp>
      <p:sp>
        <p:nvSpPr>
          <p:cNvPr id="31" name="Text 26"/>
          <p:cNvSpPr txBox="1"/>
          <p:nvPr/>
        </p:nvSpPr>
        <p:spPr>
          <a:xfrm>
            <a:off x="7662672" y="4663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p(fraud) = 0.87  ·  flagged for review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59436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live:  </a:t>
            </a:r>
            <a:pPr indent="0" marL="0">
              <a:buNone/>
            </a:pPr>
            <a:r>
              <a:rPr lang="en-US" sz="1400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your Streamlit app URL here]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3327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deliberate trade-offs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611880" cy="3886200"/>
          </a:xfrm>
          <a:prstGeom prst="roundRect">
            <a:avLst>
              <a:gd name="adj" fmla="val 2785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2093976"/>
            <a:ext cx="640080" cy="6400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2273198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05256" y="2898648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class imbalance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05256" y="3611880"/>
            <a:ext cx="29900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accounts for only ~2.5% of transactions. Oversampling the minority class stopped the model from learning to simply predict "legitimate" every time.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905256" y="5029200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Oversampling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98848" y="1783080"/>
            <a:ext cx="3611880" cy="3886200"/>
          </a:xfrm>
          <a:prstGeom prst="roundRect">
            <a:avLst>
              <a:gd name="adj" fmla="val 2785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9744" y="2093976"/>
            <a:ext cx="640080" cy="640080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966" y="2273198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809744" y="2898648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Lowered the decision threshold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809744" y="3611880"/>
            <a:ext cx="29900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6D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from 0.50 to 0.30. Missing real fraud costs far more than a false alarm, so we accepted lower precision in exchange for materially higher recall.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809744" y="5029200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0.30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403336" y="1783080"/>
            <a:ext cx="3611880" cy="3886200"/>
          </a:xfrm>
          <a:prstGeom prst="roundRect">
            <a:avLst>
              <a:gd name="adj" fmla="val 2785"/>
            </a:avLst>
          </a:prstGeom>
          <a:solidFill>
            <a:srgbClr val="F2F7FB"/>
          </a:solidFill>
          <a:ln w="12700">
            <a:solidFill>
              <a:srgbClr val="DCE8F2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714232" y="2093976"/>
            <a:ext cx="640080" cy="64008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454" y="2273198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714232" y="2898648"/>
            <a:ext cx="2990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the whole model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714232" y="3611880"/>
            <a:ext cx="29900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6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Classifier, anomaly detector and encoder are saved together as one joblib artifact — one file to load, no version drift between components.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714232" y="5029200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artifact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572000" cy="4572000"/>
          </a:xfrm>
          <a:prstGeom prst="ellipse">
            <a:avLst/>
          </a:prstGeom>
          <a:solidFill>
            <a:srgbClr val="1B6CA8">
              <a:alpha val="22000"/>
            </a:srgbClr>
          </a:solidFill>
          <a:ln w="12700">
            <a:solidFill>
              <a:srgbClr val="1B6CA8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38404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04241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A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explainable, testable fraud detection system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847088"/>
            <a:ext cx="603504" cy="603504"/>
          </a:xfrm>
          <a:prstGeom prst="ellipse">
            <a:avLst/>
          </a:prstGeom>
          <a:solidFill>
            <a:srgbClr val="00A3E0"/>
          </a:solidFill>
          <a:ln w="12700">
            <a:solidFill>
              <a:srgbClr val="00A3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41" y="2016069"/>
            <a:ext cx="265542" cy="2655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53312" y="19202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delivered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9748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from raw data to risk verdict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97.45% test accuracy with recall-first threshold tuning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explanation on every flagged transaction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Streamlit demo, meeting all challenge requirements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285232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5400000">
              <a:srgbClr val="0A2540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847088"/>
            <a:ext cx="603504" cy="603504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381" y="2016069"/>
            <a:ext cx="265542" cy="2655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88352" y="19202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 next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269748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real, production transaction data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richer features: IP address, device fingerprint, velocity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 authentication, logging and audit trails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6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for model drift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Kukatlapalli Lakshmi Narasimha  ·  Kanishka Chitturi  ·  HackForge FinTech Codeathon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Detection &amp; Transaction Risk Agent</dc:title>
  <dc:subject>PptxGenJS Presentation</dc:subject>
  <dc:creator>HackForge FinTech Codeathon</dc:creator>
  <cp:lastModifiedBy>HackForge FinTech Codeathon</cp:lastModifiedBy>
  <cp:revision>1</cp:revision>
  <dcterms:created xsi:type="dcterms:W3CDTF">2026-09-15T07:34:42Z</dcterms:created>
  <dcterms:modified xsi:type="dcterms:W3CDTF">2026-09-15T07:34:42Z</dcterms:modified>
</cp:coreProperties>
</file>